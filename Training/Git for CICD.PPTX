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92" r:id="rId4"/>
    <p:sldId id="290" r:id="rId5"/>
    <p:sldId id="289" r:id="rId6"/>
    <p:sldId id="288" r:id="rId7"/>
    <p:sldId id="281" r:id="rId8"/>
    <p:sldId id="279" r:id="rId9"/>
    <p:sldId id="280" r:id="rId10"/>
    <p:sldId id="283" r:id="rId11"/>
    <p:sldId id="304" r:id="rId12"/>
    <p:sldId id="300" r:id="rId13"/>
    <p:sldId id="301" r:id="rId14"/>
    <p:sldId id="291" r:id="rId15"/>
    <p:sldId id="294" r:id="rId16"/>
    <p:sldId id="302" r:id="rId17"/>
    <p:sldId id="28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8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65E5E-6C6E-421D-9FD8-361A969AA0C7}" type="datetimeFigureOut">
              <a:rPr lang="en-US" smtClean="0"/>
              <a:t>9/17/2018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7E2A2-6927-4B50-9C7F-94D5AC405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71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7E2A2-6927-4B50-9C7F-94D5AC4053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85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36649-36F7-4121-A880-5A2CBD33F3D4}" type="datetime1">
              <a:rPr lang="en-US" smtClean="0"/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BEDF4-6926-44DC-A5D2-1C50009D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23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651F-9CC0-410E-8A42-964ADE63697E}" type="datetime1">
              <a:rPr lang="en-US" smtClean="0"/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BEDF4-6926-44DC-A5D2-1C50009D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0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59ADD-76A6-4CD8-BFBF-380ED65C43C4}" type="datetime1">
              <a:rPr lang="en-US" smtClean="0"/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BEDF4-6926-44DC-A5D2-1C50009D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6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EBA9-7552-4A78-88C1-3A6E55056F21}" type="datetime1">
              <a:rPr lang="en-US" smtClean="0"/>
              <a:t>9/17/2018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BEDF4-6926-44DC-A5D2-1C50009D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38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702A-D408-4DF8-87CD-2CC1DC1DF1B5}" type="datetime1">
              <a:rPr lang="en-US" smtClean="0"/>
              <a:t>9/17/2018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BEDF4-6926-44DC-A5D2-1C50009D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6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ECBD-43BD-4151-93C1-6D2D83367B8B}" type="datetime1">
              <a:rPr lang="en-US" smtClean="0"/>
              <a:t>9/17/2018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BEDF4-6926-44DC-A5D2-1C50009D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73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827B-74A9-4EF6-A021-74AA51524230}" type="datetime1">
              <a:rPr lang="en-US" smtClean="0"/>
              <a:t>9/17/2018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BEDF4-6926-44DC-A5D2-1C50009D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37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8D19-190B-41B6-8F00-F427D14D6FD2}" type="datetime1">
              <a:rPr lang="en-US" smtClean="0"/>
              <a:t>9/17/2018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BEDF4-6926-44DC-A5D2-1C50009D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95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3055B-B695-4709-9C6A-2F5091C008C3}" type="datetime1">
              <a:rPr lang="en-US" smtClean="0"/>
              <a:t>9/17/2018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BEDF4-6926-44DC-A5D2-1C50009D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2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2668C-1BEE-4F1C-8DDA-67ECEDB88856}" type="datetime1">
              <a:rPr lang="en-US" smtClean="0"/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BEDF4-6926-44DC-A5D2-1C50009D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30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CD3AF-A71F-45EC-A5C3-20D15F38AEDB}" type="datetime1">
              <a:rPr lang="en-US" smtClean="0"/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BEDF4-6926-44DC-A5D2-1C50009D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83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17AC6-E5AA-46DA-8749-3D4548A5617B}" type="datetime1">
              <a:rPr lang="en-US" smtClean="0"/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BEDF4-6926-44DC-A5D2-1C50009D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35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garystafford/5565f0b54e917b5e8750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orga.cat/posts/most-useful-git-command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pen.collab.net/" TargetMode="External"/><Relationship Id="rId5" Type="http://schemas.openxmlformats.org/officeDocument/2006/relationships/hyperlink" Target="https://www.gitkraken.com/" TargetMode="External"/><Relationship Id="rId4" Type="http://schemas.openxmlformats.org/officeDocument/2006/relationships/hyperlink" Target="https://about.gitlab.com/2015/02/19/8-tips-to-help-you-work-better-with-git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10.88.14.210:8080/#/c/20pf/cosmos/jvckenwood/utilities/dbg_daemon_starter/+/xxxxxxxxxxxxxx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hutterstock_54404716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3797411"/>
          </a:xfrm>
          <a:prstGeom prst="rect">
            <a:avLst/>
          </a:prstGeom>
        </p:spPr>
      </p:pic>
      <p:pic>
        <p:nvPicPr>
          <p:cNvPr id="1034" name="Picture 10" descr="https://git-scm.com/images/branching-illustration@2x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147" y="4134246"/>
            <a:ext cx="3158458" cy="203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47700" y="3645725"/>
            <a:ext cx="6861842" cy="2695698"/>
          </a:xfrm>
        </p:spPr>
        <p:txBody>
          <a:bodyPr>
            <a:normAutofit/>
          </a:bodyPr>
          <a:lstStyle/>
          <a:p>
            <a:pPr algn="l"/>
            <a:r>
              <a:rPr lang="en-US" sz="3200" dirty="0" err="1" smtClean="0">
                <a:solidFill>
                  <a:schemeClr val="accent2">
                    <a:lumMod val="75000"/>
                  </a:schemeClr>
                </a:solidFill>
              </a:rPr>
              <a:t>Git</a:t>
            </a:r>
            <a:r>
              <a:rPr lang="en-US" sz="3200" dirty="0" smtClean="0">
                <a:solidFill>
                  <a:schemeClr val="accent2">
                    <a:lumMod val="75000"/>
                  </a:schemeClr>
                </a:solidFill>
              </a:rPr>
              <a:t> guideline for JLN team</a:t>
            </a:r>
            <a:endParaRPr lang="en-US" sz="1800" dirty="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r>
              <a:rPr lang="en-US" sz="1600" dirty="0">
                <a:solidFill>
                  <a:srgbClr val="002060"/>
                </a:solidFill>
              </a:rPr>
              <a:t>Author: </a:t>
            </a:r>
            <a:r>
              <a:rPr lang="en-US" sz="1600" dirty="0" smtClean="0">
                <a:solidFill>
                  <a:srgbClr val="002060"/>
                </a:solidFill>
              </a:rPr>
              <a:t>FQC.TQA</a:t>
            </a:r>
          </a:p>
          <a:p>
            <a:pPr algn="l"/>
            <a:r>
              <a:rPr lang="en-US" sz="1600" dirty="0" smtClean="0">
                <a:solidFill>
                  <a:srgbClr val="002060"/>
                </a:solidFill>
              </a:rPr>
              <a:t>Editor: TuanCDN</a:t>
            </a:r>
            <a:endParaRPr lang="en-US" sz="1600" dirty="0">
              <a:solidFill>
                <a:srgbClr val="002060"/>
              </a:solidFill>
            </a:endParaRPr>
          </a:p>
          <a:p>
            <a:pPr algn="l"/>
            <a:r>
              <a:rPr lang="en-US" sz="1600" dirty="0">
                <a:solidFill>
                  <a:srgbClr val="002060"/>
                </a:solidFill>
              </a:rPr>
              <a:t>Revision: </a:t>
            </a:r>
            <a:r>
              <a:rPr lang="en-US" sz="1600" dirty="0" smtClean="0">
                <a:solidFill>
                  <a:srgbClr val="002060"/>
                </a:solidFill>
              </a:rPr>
              <a:t>1.1</a:t>
            </a:r>
            <a:endParaRPr lang="en-US" sz="1600" dirty="0">
              <a:solidFill>
                <a:srgbClr val="002060"/>
              </a:solidFill>
            </a:endParaRPr>
          </a:p>
          <a:p>
            <a:pPr algn="l"/>
            <a:r>
              <a:rPr lang="en-US" sz="1600" dirty="0" smtClean="0">
                <a:solidFill>
                  <a:srgbClr val="002060"/>
                </a:solidFill>
              </a:rPr>
              <a:t>August 24, 2018 </a:t>
            </a:r>
            <a:r>
              <a:rPr lang="en-US" sz="1600" dirty="0">
                <a:solidFill>
                  <a:srgbClr val="002060"/>
                </a:solidFill>
              </a:rPr>
              <a:t>– HCM, VN</a:t>
            </a:r>
          </a:p>
        </p:txBody>
      </p:sp>
      <p:pic>
        <p:nvPicPr>
          <p:cNvPr id="1028" name="Picture 4" descr="https://git-scm.com/images/logos/downloads/Git-Logo-2Color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298" y="3460639"/>
            <a:ext cx="1350228" cy="56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jenkins.io/images/226px-Jenkins_logo.svg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1618" y="4003073"/>
            <a:ext cx="721987" cy="99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logo FPT.wmf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899" y="2458306"/>
            <a:ext cx="1667037" cy="100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3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OBJECTIVES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164662"/>
            <a:ext cx="10515600" cy="50123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Define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 Naming convention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 Git branches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For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Better team collaboration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Reduce duplicate tasks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Reduce time/effort to merge </a:t>
            </a:r>
            <a:r>
              <a:rPr lang="en-US" dirty="0" smtClean="0">
                <a:solidFill>
                  <a:srgbClr val="0070C0"/>
                </a:solidFill>
              </a:rPr>
              <a:t>code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rgbClr val="0070C0"/>
                </a:solidFill>
              </a:rPr>
              <a:t>Better integrate with CICD system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fld id="{C27EE4A4-B591-4881-8EAE-02CC7167C639}" type="slidenum">
              <a:rPr lang="en-US">
                <a:solidFill>
                  <a:schemeClr val="accent2">
                    <a:lumMod val="75000"/>
                  </a:schemeClr>
                </a:solidFill>
              </a:rPr>
              <a:pPr algn="r"/>
              <a:t>2</a:t>
            </a:fld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138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GIT Overview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fld id="{C27EE4A4-B591-4881-8EAE-02CC7167C639}" type="slidenum">
              <a:rPr lang="en-US">
                <a:solidFill>
                  <a:schemeClr val="accent2">
                    <a:lumMod val="75000"/>
                  </a:schemeClr>
                </a:solidFill>
              </a:rPr>
              <a:pPr algn="r"/>
              <a:t>3</a:t>
            </a:fld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Picture 2" descr="https://www.teaching-materials.org/git/images/distributed-vc.png">
            <a:extLst>
              <a:ext uri="{FF2B5EF4-FFF2-40B4-BE49-F238E27FC236}">
                <a16:creationId xmlns="" xmlns:a16="http://schemas.microsoft.com/office/drawing/2014/main" id="{754818C0-0CB8-48F6-923B-912B51A58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660" y="1837094"/>
            <a:ext cx="7046322" cy="425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38029" y="2276481"/>
            <a:ext cx="227447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 smtClean="0">
                <a:ln w="0"/>
                <a:solidFill>
                  <a:schemeClr val="accent5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Distributed</a:t>
            </a:r>
          </a:p>
          <a:p>
            <a:pPr algn="ctr"/>
            <a:r>
              <a:rPr lang="en-US" sz="3600" dirty="0" smtClean="0">
                <a:ln w="0"/>
                <a:solidFill>
                  <a:schemeClr val="accent5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VCS</a:t>
            </a:r>
          </a:p>
        </p:txBody>
      </p:sp>
    </p:spTree>
    <p:extLst>
      <p:ext uri="{BB962C8B-B14F-4D97-AF65-F5344CB8AC3E}">
        <p14:creationId xmlns:p14="http://schemas.microsoft.com/office/powerpoint/2010/main" val="22302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GIT Overview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fld id="{C27EE4A4-B591-4881-8EAE-02CC7167C639}" type="slidenum">
              <a:rPr lang="en-US">
                <a:solidFill>
                  <a:schemeClr val="accent2">
                    <a:lumMod val="75000"/>
                  </a:schemeClr>
                </a:solidFill>
              </a:rPr>
              <a:pPr algn="r"/>
              <a:t>4</a:t>
            </a:fld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="" xmlns:a16="http://schemas.microsoft.com/office/drawing/2014/main" id="{751765A9-36FF-4D35-A092-25D8DC37A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="" xmlns:a16="http://schemas.microsoft.com/office/drawing/2014/main" id="{3D0CF695-4114-49E6-BF09-D0EDBFC0200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199" y="1190721"/>
          <a:ext cx="10515600" cy="4699000"/>
        </p:xfrm>
        <a:graphic>
          <a:graphicData uri="http://schemas.openxmlformats.org/drawingml/2006/table">
            <a:tbl>
              <a:tblPr firstRow="1" bandRow="1"/>
              <a:tblGrid>
                <a:gridCol w="1892809">
                  <a:extLst>
                    <a:ext uri="{9D8B030D-6E8A-4147-A177-3AD203B41FA5}">
                      <a16:colId xmlns="" xmlns:a16="http://schemas.microsoft.com/office/drawing/2014/main" val="4275820808"/>
                    </a:ext>
                  </a:extLst>
                </a:gridCol>
                <a:gridCol w="4346448">
                  <a:extLst>
                    <a:ext uri="{9D8B030D-6E8A-4147-A177-3AD203B41FA5}">
                      <a16:colId xmlns="" xmlns:a16="http://schemas.microsoft.com/office/drawing/2014/main" val="182965234"/>
                    </a:ext>
                  </a:extLst>
                </a:gridCol>
                <a:gridCol w="4276343">
                  <a:extLst>
                    <a:ext uri="{9D8B030D-6E8A-4147-A177-3AD203B41FA5}">
                      <a16:colId xmlns="" xmlns:a16="http://schemas.microsoft.com/office/drawing/2014/main" val="1224364709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600" dirty="0"/>
                        <a:t>#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600" dirty="0"/>
                        <a:t>GIT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600" dirty="0"/>
                        <a:t>Subversion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4837307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dirty="0"/>
                        <a:t>Distributed</a:t>
                      </a:r>
                      <a:r>
                        <a:rPr lang="en-US" sz="1600" baseline="0" dirty="0"/>
                        <a:t> vs Centralized</a:t>
                      </a:r>
                      <a:endParaRPr lang="en-US" sz="16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Distributed</a:t>
                      </a:r>
                      <a:r>
                        <a:rPr lang="en-US" sz="1600" baseline="0" dirty="0"/>
                        <a:t> Version Control System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A GIT user will "clone" a repository from a remote server. Can do everything on your local machine: commit, inspect history, restore older revisions, etc.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Only if you want to share your work with the world you have to connect to a remote server.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Centralized</a:t>
                      </a:r>
                      <a:r>
                        <a:rPr lang="en-US" sz="1600" baseline="0" dirty="0"/>
                        <a:t> Version Control System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A "checkout" from this central repository will place a "working copy" on the user's machine.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“Working copy” is a snapshot from a certain version of the project on his disk.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9127467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dirty="0"/>
                        <a:t>Repository Structure and URLs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GIT repositories, on the other hand, consist of only a single ".</a:t>
                      </a:r>
                      <a:r>
                        <a:rPr lang="en-US" sz="1600" dirty="0" err="1"/>
                        <a:t>git</a:t>
                      </a:r>
                      <a:r>
                        <a:rPr lang="en-US" sz="1600" dirty="0"/>
                        <a:t>" folder in the root of a project.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Addressing branches or tags is done via commands, not URLs. In GIT, the URL only points to the location of the GIT repository: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ssh://git@example.com/path/to/git-repo.git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US" sz="16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Organized with a couple of directories:</a:t>
                      </a:r>
                    </a:p>
                    <a:p>
                      <a:pPr marL="895335" lvl="1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/>
                        <a:t>"trunk" for the main line of development</a:t>
                      </a:r>
                    </a:p>
                    <a:p>
                      <a:pPr marL="895335" lvl="1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/>
                        <a:t>"branches" for alternative contexts</a:t>
                      </a:r>
                    </a:p>
                    <a:p>
                      <a:pPr marL="895335" lvl="1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/>
                        <a:t>"tags" to mark certain revisions. </a:t>
                      </a:r>
                    </a:p>
                    <a:p>
                      <a:pPr marL="285750" lvl="0" indent="-285750">
                        <a:buFontTx/>
                        <a:buChar char="-"/>
                      </a:pPr>
                      <a:r>
                        <a:rPr lang="en-US" sz="1600" dirty="0"/>
                        <a:t>URLs: </a:t>
                      </a:r>
                      <a:r>
                        <a:rPr lang="en-US" sz="1600" dirty="0" err="1"/>
                        <a:t>svn+ssh</a:t>
                      </a:r>
                      <a:r>
                        <a:rPr lang="en-US" sz="1600" dirty="0"/>
                        <a:t>://svn@example.com/</a:t>
                      </a:r>
                      <a:r>
                        <a:rPr lang="en-US" sz="1600" dirty="0" err="1"/>
                        <a:t>svn</a:t>
                      </a:r>
                      <a:r>
                        <a:rPr lang="en-US" sz="1600" dirty="0"/>
                        <a:t>/[</a:t>
                      </a:r>
                      <a:r>
                        <a:rPr lang="en-US" sz="1600" dirty="0" err="1"/>
                        <a:t>trunk|branches|tags</a:t>
                      </a:r>
                      <a:r>
                        <a:rPr lang="en-US" sz="1600" dirty="0"/>
                        <a:t>|….]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US" sz="1600" dirty="0"/>
                    </a:p>
                    <a:p>
                      <a:pPr marL="285750" indent="-285750">
                        <a:buFontTx/>
                        <a:buChar char="-"/>
                      </a:pPr>
                      <a:endParaRPr lang="en-US" sz="16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37685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99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GIT Overview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fld id="{C27EE4A4-B591-4881-8EAE-02CC7167C639}" type="slidenum">
              <a:rPr lang="en-US">
                <a:solidFill>
                  <a:schemeClr val="accent2">
                    <a:lumMod val="75000"/>
                  </a:schemeClr>
                </a:solidFill>
              </a:rPr>
              <a:pPr algn="r"/>
              <a:t>5</a:t>
            </a:fld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="" xmlns:a16="http://schemas.microsoft.com/office/drawing/2014/main" id="{751765A9-36FF-4D35-A092-25D8DC37A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="" xmlns:a16="http://schemas.microsoft.com/office/drawing/2014/main" id="{6C05C8A6-E8E8-4C89-BC8A-2805DE749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334113"/>
              </p:ext>
            </p:extLst>
          </p:nvPr>
        </p:nvGraphicFramePr>
        <p:xfrm>
          <a:off x="838201" y="1190721"/>
          <a:ext cx="10515600" cy="5521960"/>
        </p:xfrm>
        <a:graphic>
          <a:graphicData uri="http://schemas.openxmlformats.org/drawingml/2006/table">
            <a:tbl>
              <a:tblPr firstRow="1" bandRow="1"/>
              <a:tblGrid>
                <a:gridCol w="1892809">
                  <a:extLst>
                    <a:ext uri="{9D8B030D-6E8A-4147-A177-3AD203B41FA5}">
                      <a16:colId xmlns="" xmlns:a16="http://schemas.microsoft.com/office/drawing/2014/main" val="4275820808"/>
                    </a:ext>
                  </a:extLst>
                </a:gridCol>
                <a:gridCol w="4346448">
                  <a:extLst>
                    <a:ext uri="{9D8B030D-6E8A-4147-A177-3AD203B41FA5}">
                      <a16:colId xmlns="" xmlns:a16="http://schemas.microsoft.com/office/drawing/2014/main" val="182965234"/>
                    </a:ext>
                  </a:extLst>
                </a:gridCol>
                <a:gridCol w="4276343">
                  <a:extLst>
                    <a:ext uri="{9D8B030D-6E8A-4147-A177-3AD203B41FA5}">
                      <a16:colId xmlns="" xmlns:a16="http://schemas.microsoft.com/office/drawing/2014/main" val="1224364709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600" dirty="0"/>
                        <a:t>#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600" dirty="0"/>
                        <a:t>GIT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600" dirty="0"/>
                        <a:t>Subversion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4837307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dirty="0"/>
                        <a:t>Branching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Branching was one of the core design goals and therefore required a quite different concept.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A branch in GIT is simply a pointer to a certain revision -&gt; thereby creating no copy, no new directories, and no overhead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Directories that happen to have a special meaning.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When creating a new branch, you effectively create a (very efficient) copy of your project in a new folder.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9127467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dirty="0"/>
                        <a:t>Committing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No need</a:t>
                      </a:r>
                      <a:r>
                        <a:rPr lang="en-US" sz="1600" baseline="0" dirty="0"/>
                        <a:t> to</a:t>
                      </a:r>
                      <a:r>
                        <a:rPr lang="en-US" sz="1600" dirty="0"/>
                        <a:t> online or connected to any "central" repository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A file was changed doesn't mean it will automatically be included in the next commit. Need</a:t>
                      </a:r>
                      <a:r>
                        <a:rPr lang="en-US" sz="1600" baseline="0" dirty="0"/>
                        <a:t> to add</a:t>
                      </a:r>
                      <a:r>
                        <a:rPr lang="en-US" sz="1600" dirty="0"/>
                        <a:t> them to the so-called "Staging Area".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Revision numbers are replaced by "commit hashes".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US" sz="16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Only commit when you have a connection to the central repository.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The commit gets instantly transferred to the central repository.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It gets assigned an ascending revision number.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US" sz="16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3768564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dirty="0"/>
                        <a:t>Sharing Work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Nothing gets uploaded automatically.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Can decide for each of your branches when (and if at all) you want to share.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Conflicts can only occur on your local machine and not on the remote server.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Automatically transferred to the central server when you commit.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Committing is only possible when you can connect to this central server.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3998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2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GIT - branches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164662"/>
            <a:ext cx="5640659" cy="5012301"/>
          </a:xfrm>
        </p:spPr>
        <p:txBody>
          <a:bodyPr>
            <a:normAutofit/>
          </a:bodyPr>
          <a:lstStyle/>
          <a:p>
            <a:pPr marL="463550" indent="-463550"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0070C0"/>
              </a:solidFill>
            </a:endParaRPr>
          </a:p>
          <a:p>
            <a:pPr marL="463550" indent="-4635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70C0"/>
                </a:solidFill>
              </a:rPr>
              <a:t>A successful git branching model from the internet</a:t>
            </a:r>
          </a:p>
          <a:p>
            <a:pPr marL="463550" indent="-4635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70C0"/>
                </a:solidFill>
              </a:rPr>
              <a:t>It’s a good choice for large team size</a:t>
            </a:r>
          </a:p>
          <a:p>
            <a:pPr marL="463550" indent="-4635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70C0"/>
                </a:solidFill>
              </a:rPr>
              <a:t>But our team is small</a:t>
            </a:r>
          </a:p>
          <a:p>
            <a:pPr marL="463550" indent="-4635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70C0"/>
                </a:solidFill>
              </a:rPr>
              <a:t>We need to make it </a:t>
            </a:r>
            <a:r>
              <a:rPr lang="en-US" sz="2000" dirty="0" smtClean="0">
                <a:solidFill>
                  <a:srgbClr val="0070C0"/>
                </a:solidFill>
              </a:rPr>
              <a:t>simpler</a:t>
            </a:r>
          </a:p>
          <a:p>
            <a:pPr marL="463550" indent="-463550"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Let’s go next…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fld id="{C27EE4A4-B591-4881-8EAE-02CC7167C639}" type="slidenum">
              <a:rPr lang="en-US">
                <a:solidFill>
                  <a:schemeClr val="accent2">
                    <a:lumMod val="75000"/>
                  </a:schemeClr>
                </a:solidFill>
              </a:rPr>
              <a:pPr algn="r"/>
              <a:t>6</a:t>
            </a:fld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B53D5B30-675C-435F-A0D9-2E8ECA65BD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649" y="1164662"/>
            <a:ext cx="4316151" cy="571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49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GIT - branches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164662"/>
            <a:ext cx="5640659" cy="501230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rgbClr val="0070C0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0070C0"/>
                </a:solidFill>
              </a:rPr>
              <a:t>Merged </a:t>
            </a:r>
            <a:r>
              <a:rPr lang="en-US" sz="2000" dirty="0">
                <a:solidFill>
                  <a:srgbClr val="0070C0"/>
                </a:solidFill>
              </a:rPr>
              <a:t>from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develop</a:t>
            </a:r>
            <a:r>
              <a:rPr lang="en-US" sz="2000" dirty="0">
                <a:solidFill>
                  <a:srgbClr val="0070C0"/>
                </a:solidFill>
              </a:rPr>
              <a:t> branch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Trigger CICD build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Anything in the master branch is always deployable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Managed by PTL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develop</a:t>
            </a:r>
            <a:endParaRPr lang="en-US" dirty="0">
              <a:solidFill>
                <a:srgbClr val="0070C0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0070C0"/>
                </a:solidFill>
              </a:rPr>
              <a:t>Merged </a:t>
            </a:r>
            <a:r>
              <a:rPr lang="en-US" sz="2000" dirty="0">
                <a:solidFill>
                  <a:srgbClr val="0070C0"/>
                </a:solidFill>
              </a:rPr>
              <a:t>from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feature-* </a:t>
            </a:r>
            <a:r>
              <a:rPr lang="en-US" sz="2000" dirty="0">
                <a:solidFill>
                  <a:srgbClr val="0070C0"/>
                </a:solidFill>
              </a:rPr>
              <a:t>branches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Trigger CICD build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Reflect current development status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Managed by PTL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fld id="{C27EE4A4-B591-4881-8EAE-02CC7167C639}" type="slidenum">
              <a:rPr lang="en-US">
                <a:solidFill>
                  <a:schemeClr val="accent2">
                    <a:lumMod val="75000"/>
                  </a:schemeClr>
                </a:solidFill>
              </a:rPr>
              <a:pPr algn="r"/>
              <a:t>7</a:t>
            </a:fld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77BA4B40-66EA-496C-A546-2E86D1075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859" y="1318125"/>
            <a:ext cx="4159090" cy="459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85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GIT - branches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164662"/>
            <a:ext cx="5942610" cy="5012301"/>
          </a:xfrm>
        </p:spPr>
        <p:txBody>
          <a:bodyPr>
            <a:normAutofit/>
          </a:bodyPr>
          <a:lstStyle/>
          <a:p>
            <a:pPr marL="0" indent="0" defTabSz="609585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3. features</a:t>
            </a:r>
          </a:p>
          <a:p>
            <a:pPr marL="682625" lvl="1" indent="-219075"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0070C0"/>
                </a:solidFill>
              </a:rPr>
              <a:t>Merged by </a:t>
            </a:r>
            <a:r>
              <a:rPr lang="en-US" sz="2000" dirty="0">
                <a:solidFill>
                  <a:srgbClr val="0070C0"/>
                </a:solidFill>
              </a:rPr>
              <a:t>commits from developers</a:t>
            </a:r>
          </a:p>
          <a:p>
            <a:pPr marL="682625" lvl="1" indent="-219075" defTabSz="609585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Must merge back into: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develop</a:t>
            </a:r>
          </a:p>
          <a:p>
            <a:pPr marL="682625" lvl="1" indent="-219075" defTabSz="609585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Naming convention</a:t>
            </a:r>
          </a:p>
          <a:p>
            <a:pPr marL="1219170" lvl="2" defTabSz="609585"/>
            <a:r>
              <a:rPr lang="en-US" dirty="0">
                <a:solidFill>
                  <a:prstClr val="black"/>
                </a:solidFill>
              </a:rPr>
              <a:t>Format: feature-*</a:t>
            </a:r>
          </a:p>
          <a:p>
            <a:pPr marL="1219170" lvl="2" defTabSz="609585"/>
            <a:r>
              <a:rPr lang="en-US" dirty="0">
                <a:solidFill>
                  <a:prstClr val="black"/>
                </a:solidFill>
              </a:rPr>
              <a:t>Example:</a:t>
            </a:r>
          </a:p>
          <a:p>
            <a:pPr marL="1676370" lvl="3" defTabSz="609585"/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kernel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 marL="1676370" lvl="3" defTabSz="609585"/>
            <a:r>
              <a:rPr lang="en-US" sz="2000" dirty="0" err="1" smtClean="0">
                <a:solidFill>
                  <a:schemeClr val="accent2">
                    <a:lumMod val="75000"/>
                  </a:schemeClr>
                </a:solidFill>
              </a:rPr>
              <a:t>uboot</a:t>
            </a:r>
            <a:endParaRPr lang="en-US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1676370" lvl="3" defTabSz="609585"/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utility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 marL="682625" lvl="1" indent="-219075" defTabSz="609585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Managed by module </a:t>
            </a:r>
            <a:r>
              <a:rPr lang="en-US" sz="2000" dirty="0" smtClean="0">
                <a:solidFill>
                  <a:srgbClr val="0070C0"/>
                </a:solidFill>
              </a:rPr>
              <a:t>owners</a:t>
            </a:r>
            <a:endParaRPr lang="en-US" sz="2000" dirty="0">
              <a:solidFill>
                <a:srgbClr val="0070C0"/>
              </a:solidFill>
            </a:endParaRPr>
          </a:p>
          <a:p>
            <a:pPr marL="304770" defTabSz="609585"/>
            <a:endParaRPr lang="en-US" b="1" dirty="0">
              <a:solidFill>
                <a:prstClr val="black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fld id="{C27EE4A4-B591-4881-8EAE-02CC7167C639}" type="slidenum">
              <a:rPr lang="en-US">
                <a:solidFill>
                  <a:schemeClr val="accent2">
                    <a:lumMod val="75000"/>
                  </a:schemeClr>
                </a:solidFill>
              </a:rPr>
              <a:pPr algn="r"/>
              <a:t>8</a:t>
            </a:fld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787" y="1327947"/>
            <a:ext cx="464820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901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GIT - branches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164662"/>
            <a:ext cx="4892899" cy="5012301"/>
          </a:xfrm>
        </p:spPr>
        <p:txBody>
          <a:bodyPr>
            <a:normAutofit/>
          </a:bodyPr>
          <a:lstStyle/>
          <a:p>
            <a:pPr marL="0" indent="0" defTabSz="609585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4. 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feature-Utility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682625" lvl="1" indent="-219075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Commit daily by developers</a:t>
            </a:r>
          </a:p>
          <a:p>
            <a:pPr marL="682625" lvl="1" indent="-219075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Merge all commits to this branch by </a:t>
            </a:r>
            <a:r>
              <a:rPr lang="en-US" sz="2000" dirty="0" smtClean="0">
                <a:solidFill>
                  <a:srgbClr val="0070C0"/>
                </a:solidFill>
              </a:rPr>
              <a:t>module owner</a:t>
            </a:r>
            <a:endParaRPr lang="en-US" sz="2000" dirty="0">
              <a:solidFill>
                <a:srgbClr val="0070C0"/>
              </a:solidFill>
            </a:endParaRPr>
          </a:p>
          <a:p>
            <a:pPr marL="682625" lvl="1" indent="-219075" defTabSz="609585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Must merge this branch back into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develop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dirty="0">
                <a:solidFill>
                  <a:srgbClr val="0070C0"/>
                </a:solidFill>
              </a:rPr>
              <a:t>later when it’s in </a:t>
            </a:r>
            <a:r>
              <a:rPr lang="en-US" sz="2000" dirty="0" smtClean="0">
                <a:solidFill>
                  <a:srgbClr val="0070C0"/>
                </a:solidFill>
              </a:rPr>
              <a:t>stable</a:t>
            </a:r>
            <a:endParaRPr lang="en-US" sz="24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6350" indent="0" defTabSz="609585">
              <a:buNone/>
            </a:pPr>
            <a:r>
              <a:rPr lang="en-US" sz="2400" u="sng" dirty="0" smtClean="0">
                <a:solidFill>
                  <a:schemeClr val="accent2">
                    <a:lumMod val="75000"/>
                  </a:schemeClr>
                </a:solidFill>
              </a:rPr>
              <a:t>Developer jobs</a:t>
            </a:r>
            <a:endParaRPr lang="en-US" sz="2400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682625" lvl="1" indent="-219075"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0070C0"/>
                </a:solidFill>
              </a:rPr>
              <a:t>Create many local branches that he wants</a:t>
            </a:r>
            <a:endParaRPr lang="en-US" sz="2000" dirty="0">
              <a:solidFill>
                <a:srgbClr val="0070C0"/>
              </a:solidFill>
            </a:endParaRPr>
          </a:p>
          <a:p>
            <a:pPr marL="682625" lvl="1" indent="-219075"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0070C0"/>
                </a:solidFill>
              </a:rPr>
              <a:t>Merge all these branches to an unique branch: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feature-utility</a:t>
            </a:r>
          </a:p>
          <a:p>
            <a:pPr marL="682625" lvl="1" indent="-219075"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0070C0"/>
                </a:solidFill>
              </a:rPr>
              <a:t>Push to </a:t>
            </a:r>
            <a:r>
              <a:rPr lang="en-US" sz="2000" dirty="0" err="1" smtClean="0">
                <a:solidFill>
                  <a:srgbClr val="0070C0"/>
                </a:solidFill>
              </a:rPr>
              <a:t>gitlab</a:t>
            </a:r>
            <a:r>
              <a:rPr lang="en-US" sz="2000" dirty="0" smtClean="0">
                <a:solidFill>
                  <a:srgbClr val="0070C0"/>
                </a:solidFill>
              </a:rPr>
              <a:t> remote server</a:t>
            </a:r>
          </a:p>
          <a:p>
            <a:pPr marL="682625" lvl="1" indent="-219075"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0070C0"/>
                </a:solidFill>
              </a:rPr>
              <a:t>Go to </a:t>
            </a:r>
            <a:r>
              <a:rPr lang="en-US" sz="2000" u="sng" dirty="0" smtClean="0">
                <a:solidFill>
                  <a:srgbClr val="0070C0"/>
                </a:solidFill>
              </a:rPr>
              <a:t>https://git.fsoft.com.vn</a:t>
            </a:r>
            <a:r>
              <a:rPr lang="en-US" sz="2000" dirty="0" smtClean="0">
                <a:solidFill>
                  <a:srgbClr val="0070C0"/>
                </a:solidFill>
              </a:rPr>
              <a:t/>
            </a:r>
            <a:br>
              <a:rPr lang="en-US" sz="2000" dirty="0" smtClean="0">
                <a:solidFill>
                  <a:srgbClr val="0070C0"/>
                </a:solidFill>
              </a:rPr>
            </a:b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=&gt; create merge request</a:t>
            </a:r>
          </a:p>
          <a:p>
            <a:pPr marL="682625" lvl="1" indent="-219075"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0070C0"/>
                </a:solidFill>
              </a:rPr>
              <a:t>Delete all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draft</a:t>
            </a:r>
            <a:r>
              <a:rPr lang="en-US" sz="2000" dirty="0" smtClean="0">
                <a:solidFill>
                  <a:srgbClr val="0070C0"/>
                </a:solidFill>
              </a:rPr>
              <a:t> branches when done.</a:t>
            </a:r>
            <a:endParaRPr lang="en-US" sz="2000" dirty="0">
              <a:solidFill>
                <a:srgbClr val="0070C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fld id="{C27EE4A4-B591-4881-8EAE-02CC7167C639}" type="slidenum">
              <a:rPr lang="en-US">
                <a:solidFill>
                  <a:schemeClr val="accent2">
                    <a:lumMod val="75000"/>
                  </a:schemeClr>
                </a:solidFill>
              </a:rPr>
              <a:pPr algn="r"/>
              <a:t>9</a:t>
            </a:fld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760" y="1403350"/>
            <a:ext cx="629602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 fontScale="90000"/>
          </a:bodyPr>
          <a:lstStyle/>
          <a:p>
            <a:pPr algn="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GIT - commands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164662"/>
            <a:ext cx="10515600" cy="5012301"/>
          </a:xfrm>
        </p:spPr>
        <p:txBody>
          <a:bodyPr>
            <a:normAutofit fontScale="92500" lnSpcReduction="10000"/>
          </a:bodyPr>
          <a:lstStyle/>
          <a:p>
            <a:pPr marL="0" indent="0" defTabSz="609585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get help</a:t>
            </a: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 &lt;command&gt; --help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clone project from remote to local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clone https://git3.fsoft.com.vn/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fsoft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/JLN2.git”</a:t>
            </a: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(use 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sudo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if get 403 proxy error)</a:t>
            </a:r>
          </a:p>
          <a:p>
            <a:pPr defTabSz="609585">
              <a:buFontTx/>
              <a:buChar char="-"/>
            </a:pP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config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--global user.name 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“</a:t>
            </a:r>
            <a:r>
              <a:rPr lang="en-US" sz="1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TuanCDN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”</a:t>
            </a:r>
          </a:p>
          <a:p>
            <a:pPr defTabSz="609585">
              <a:buFontTx/>
              <a:buChar char="-"/>
            </a:pP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config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--global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user.email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TuanCDN@fsoft.com.vn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(Edit subject to your account and email)</a:t>
            </a:r>
          </a:p>
          <a:p>
            <a:pPr defTabSz="609585">
              <a:buFontTx/>
              <a:buChar char="-"/>
            </a:pPr>
            <a:r>
              <a:rPr lang="en-US" sz="18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config</a:t>
            </a:r>
            <a:r>
              <a:rPr lang="en-US" sz="1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–l 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(to get your </a:t>
            </a:r>
            <a:r>
              <a:rPr lang="en-US" sz="18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configuration </a:t>
            </a:r>
            <a:r>
              <a:rPr lang="en-US" sz="18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infomation</a:t>
            </a:r>
            <a:r>
              <a:rPr lang="en-US" sz="1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#If certificate error happen use below </a:t>
            </a:r>
            <a:r>
              <a:rPr lang="en-US" sz="1800" dirty="0" err="1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cmd</a:t>
            </a: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pPr defTabSz="609585">
              <a:buFontTx/>
              <a:buChar char="-"/>
            </a:pPr>
            <a:r>
              <a:rPr lang="fr-FR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 </a:t>
            </a:r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config --global 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http.sslverify</a:t>
            </a:r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fr-FR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false</a:t>
            </a:r>
          </a:p>
          <a:p>
            <a:pPr defTabSz="609585">
              <a:buFontTx/>
              <a:buChar char="-"/>
            </a:pP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Store username and password to avoid repeat input it again: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config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credential.helper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store”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push https://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git3.fsoft.com.vn/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fsoft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/JLN2”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fld id="{C27EE4A4-B591-4881-8EAE-02CC7167C639}" type="slidenum">
              <a:rPr lang="en-US">
                <a:solidFill>
                  <a:schemeClr val="accent2">
                    <a:lumMod val="75000"/>
                  </a:schemeClr>
                </a:solidFill>
              </a:rPr>
              <a:pPr algn="r"/>
              <a:t>10</a:t>
            </a:fld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28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 fontScale="90000"/>
          </a:bodyPr>
          <a:lstStyle/>
          <a:p>
            <a:pPr algn="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GIT - commands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838200" y="1164662"/>
            <a:ext cx="10515600" cy="5012301"/>
          </a:xfrm>
        </p:spPr>
        <p:txBody>
          <a:bodyPr>
            <a:normAutofit/>
          </a:bodyPr>
          <a:lstStyle/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clone project from remote to local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clone https://git3.fsoft.com.vn/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fsoft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/JLN2.git”</a:t>
            </a: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(use 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sudo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if get 403 proxy error)</a:t>
            </a:r>
            <a:endParaRPr lang="vi-VN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defTabSz="609585">
              <a:buFontTx/>
              <a:buChar char="-"/>
            </a:pPr>
            <a:r>
              <a:rPr lang="vi-VN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Turn off proxy </a:t>
            </a:r>
            <a:r>
              <a:rPr lang="vi-VN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:</a:t>
            </a: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defTabSz="609585">
              <a:buFontTx/>
              <a:buChar char="-"/>
            </a:pPr>
            <a:r>
              <a:rPr lang="en-US" altLang="ja-JP" sz="1800" dirty="0" smtClean="0"/>
              <a:t>“</a:t>
            </a:r>
            <a:r>
              <a:rPr lang="en-US" altLang="ja-JP" sz="1800" dirty="0" err="1">
                <a:solidFill>
                  <a:srgbClr val="FF0000"/>
                </a:solidFill>
              </a:rPr>
              <a:t>git</a:t>
            </a:r>
            <a:r>
              <a:rPr lang="en-US" altLang="ja-JP" sz="1800" dirty="0">
                <a:solidFill>
                  <a:srgbClr val="FF0000"/>
                </a:solidFill>
              </a:rPr>
              <a:t> </a:t>
            </a:r>
            <a:r>
              <a:rPr lang="en-US" altLang="ja-JP" sz="1800" dirty="0" err="1">
                <a:solidFill>
                  <a:srgbClr val="FF0000"/>
                </a:solidFill>
              </a:rPr>
              <a:t>config</a:t>
            </a:r>
            <a:r>
              <a:rPr lang="en-US" altLang="ja-JP" sz="1800" dirty="0">
                <a:solidFill>
                  <a:srgbClr val="FF0000"/>
                </a:solidFill>
              </a:rPr>
              <a:t> --global </a:t>
            </a:r>
            <a:r>
              <a:rPr lang="en-US" altLang="ja-JP" sz="1800" dirty="0" err="1">
                <a:solidFill>
                  <a:srgbClr val="FF0000"/>
                </a:solidFill>
              </a:rPr>
              <a:t>http.proxy</a:t>
            </a:r>
            <a:r>
              <a:rPr lang="en-US" altLang="ja-JP" sz="1800" dirty="0">
                <a:solidFill>
                  <a:srgbClr val="FF0000"/>
                </a:solidFill>
              </a:rPr>
              <a:t> </a:t>
            </a:r>
            <a:r>
              <a:rPr lang="en-US" altLang="ja-JP" sz="1800" dirty="0" smtClean="0">
                <a:solidFill>
                  <a:srgbClr val="FF0000"/>
                </a:solidFill>
              </a:rPr>
              <a:t>"“ </a:t>
            </a:r>
            <a:r>
              <a:rPr lang="en-US" altLang="ja-JP" sz="1800" dirty="0" smtClean="0"/>
              <a:t>“</a:t>
            </a:r>
            <a:endParaRPr lang="vi-VN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r>
              <a:rPr lang="vi-VN" dirty="0" smtClean="0">
                <a:solidFill>
                  <a:schemeClr val="accent2">
                    <a:lumMod val="75000"/>
                  </a:schemeClr>
                </a:solidFill>
              </a:rPr>
              <a:t>11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179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 fontScale="90000"/>
          </a:bodyPr>
          <a:lstStyle/>
          <a:p>
            <a:pPr algn="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GIT - commands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164662"/>
            <a:ext cx="10515600" cy="5191688"/>
          </a:xfrm>
        </p:spPr>
        <p:txBody>
          <a:bodyPr>
            <a:normAutofit/>
          </a:bodyPr>
          <a:lstStyle/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checkout to your branch before coding: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1. List all branch and check your current branch and list all branches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branch 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–a”</a:t>
            </a:r>
          </a:p>
          <a:p>
            <a:pPr marL="0" indent="0" defTabSz="609585">
              <a:buNone/>
            </a:pPr>
            <a:endParaRPr lang="en-US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2. Switch to your branch (example: kernel)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checkout kernel”</a:t>
            </a:r>
          </a:p>
          <a:p>
            <a:pPr marL="0" indent="0" defTabSz="609585">
              <a:buNone/>
            </a:pPr>
            <a:endParaRPr lang="en-US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3. Update to newest revision</a:t>
            </a: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fld id="{C27EE4A4-B591-4881-8EAE-02CC7167C639}" type="slidenum">
              <a:rPr lang="en-US">
                <a:solidFill>
                  <a:schemeClr val="accent2">
                    <a:lumMod val="75000"/>
                  </a:schemeClr>
                </a:solidFill>
              </a:rPr>
              <a:pPr algn="r"/>
              <a:t>12</a:t>
            </a:fld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291984"/>
            <a:ext cx="5172075" cy="12096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4557529"/>
            <a:ext cx="5619750" cy="742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5561714"/>
            <a:ext cx="49053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8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 fontScale="90000"/>
          </a:bodyPr>
          <a:lstStyle/>
          <a:p>
            <a:pPr algn="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GIT - commands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164662"/>
            <a:ext cx="10515600" cy="5191688"/>
          </a:xfrm>
        </p:spPr>
        <p:txBody>
          <a:bodyPr>
            <a:normAutofit fontScale="92500" lnSpcReduction="20000"/>
          </a:bodyPr>
          <a:lstStyle/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commit code change to repos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* Before using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commit” 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cmd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, member should do task below: </a:t>
            </a:r>
          </a:p>
          <a:p>
            <a:pPr defTabSz="609585">
              <a:buFontTx/>
              <a:buChar char="-"/>
            </a:pPr>
            <a:r>
              <a:rPr lang="en-US" sz="1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“Make clean” to remove all object file</a:t>
            </a:r>
          </a:p>
          <a:p>
            <a:pPr defTabSz="609585">
              <a:buFontTx/>
              <a:buChar char="-"/>
            </a:pPr>
            <a:r>
              <a:rPr lang="en-US" sz="1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Update by “</a:t>
            </a:r>
            <a:r>
              <a:rPr lang="en-US" sz="18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pull” </a:t>
            </a:r>
            <a:r>
              <a:rPr lang="en-US" sz="18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cmd</a:t>
            </a:r>
            <a:endParaRPr lang="en-US" sz="18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609585">
              <a:buFontTx/>
              <a:buChar char="-"/>
            </a:pPr>
            <a:r>
              <a:rPr lang="en-US" sz="1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Clean code subject to coding convention</a:t>
            </a:r>
            <a:endParaRPr lang="en-US" sz="1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609585"/>
            <a:r>
              <a:rPr lang="en-US" sz="1800" dirty="0" err="1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commit </a:t>
            </a:r>
            <a:r>
              <a:rPr lang="en-US" sz="1800" dirty="0" err="1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cmd</a:t>
            </a: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template: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commit –m “your comment” 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file_change_name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”</a:t>
            </a: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defTabSz="609585"/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Push change to repos: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push”</a:t>
            </a: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Fix warning by using: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config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--global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push.default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simple”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In case of push error ask your team </a:t>
            </a: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lead for help.</a:t>
            </a:r>
            <a:endParaRPr lang="en-US" sz="18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merge</a:t>
            </a:r>
          </a:p>
          <a:p>
            <a:pPr marL="0" indent="0" defTabSz="609585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TBD</a:t>
            </a: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fld id="{C27EE4A4-B591-4881-8EAE-02CC7167C639}" type="slidenum">
              <a:rPr lang="en-US">
                <a:solidFill>
                  <a:schemeClr val="accent2">
                    <a:lumMod val="75000"/>
                  </a:schemeClr>
                </a:solidFill>
              </a:rPr>
              <a:pPr algn="r"/>
              <a:t>13</a:t>
            </a:fld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015" y="3282711"/>
            <a:ext cx="735330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45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 fontScale="90000"/>
          </a:bodyPr>
          <a:lstStyle/>
          <a:p>
            <a:pPr algn="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GIT - commands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164662"/>
            <a:ext cx="10515600" cy="5191688"/>
          </a:xfrm>
        </p:spPr>
        <p:txBody>
          <a:bodyPr>
            <a:normAutofit/>
          </a:bodyPr>
          <a:lstStyle/>
          <a:p>
            <a:pPr marL="0" indent="0" defTabSz="609585">
              <a:buNone/>
            </a:pPr>
            <a:r>
              <a:rPr lang="en-US" sz="2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Other </a:t>
            </a:r>
            <a:r>
              <a:rPr lang="en-US" sz="24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git</a:t>
            </a:r>
            <a:r>
              <a:rPr lang="en-US" sz="2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cmd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see current working repo status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status”</a:t>
            </a:r>
            <a:endParaRPr lang="en-US" sz="18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temporary store changes without need to commit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stash”        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 store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stash 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pop”    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 restore</a:t>
            </a:r>
          </a:p>
          <a:p>
            <a:pPr defTabSz="609585">
              <a:buFontTx/>
              <a:buChar char="-"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stash drop”   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delete</a:t>
            </a:r>
          </a:p>
          <a:p>
            <a:pPr marL="0" indent="0" defTabSz="609585">
              <a:buNone/>
            </a:pPr>
            <a:endParaRPr lang="en-US" sz="1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fld id="{C27EE4A4-B591-4881-8EAE-02CC7167C639}" type="slidenum">
              <a:rPr lang="en-US">
                <a:solidFill>
                  <a:schemeClr val="accent2">
                    <a:lumMod val="75000"/>
                  </a:schemeClr>
                </a:solidFill>
              </a:rPr>
              <a:pPr algn="r"/>
              <a:t>14</a:t>
            </a:fld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747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 fontScale="90000"/>
          </a:bodyPr>
          <a:lstStyle/>
          <a:p>
            <a:pPr algn="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GIT - commands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164662"/>
            <a:ext cx="10515600" cy="5191688"/>
          </a:xfrm>
        </p:spPr>
        <p:txBody>
          <a:bodyPr>
            <a:normAutofit fontScale="92500" lnSpcReduction="20000"/>
          </a:bodyPr>
          <a:lstStyle/>
          <a:p>
            <a:pPr marL="0" indent="0" defTabSz="609585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Fetch changes from remote to local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fetch –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all”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compare current working repo with HEAD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diff”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compare local “develop” with remote “develop” branch</a:t>
            </a: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diff develop 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origin/develop”</a:t>
            </a:r>
            <a:endParaRPr lang="en-US" sz="1800" dirty="0" smtClean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view remote 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urls</a:t>
            </a:r>
            <a:endParaRPr lang="en-US" sz="18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- “</a:t>
            </a:r>
            <a:r>
              <a:rPr lang="en-US" sz="180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remote 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–v”</a:t>
            </a:r>
            <a:endParaRPr lang="en-US" sz="18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references:</a:t>
            </a:r>
          </a:p>
          <a:p>
            <a:pPr marL="0" indent="0" defTabSz="609585"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[1] </a:t>
            </a:r>
            <a:r>
              <a:rPr lang="en-US" sz="17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hlinkClick r:id="rId2"/>
              </a:rPr>
              <a:t>https://orga.cat/posts/most-useful-git-commands</a:t>
            </a:r>
            <a:endParaRPr lang="en-US" sz="17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[2] </a:t>
            </a:r>
            <a:r>
              <a:rPr lang="en-US" sz="17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hlinkClick r:id="rId3"/>
              </a:rPr>
              <a:t>https://gist.github.com/garystafford/5565f0b54e917b5e8750</a:t>
            </a:r>
            <a:endParaRPr lang="en-US" sz="17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[3] </a:t>
            </a:r>
            <a:r>
              <a:rPr lang="en-US" sz="17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hlinkClick r:id="rId4"/>
              </a:rPr>
              <a:t>https://about.gitlab.com/2015/02/19/8-tips-to-help-you-work-better-with-git</a:t>
            </a:r>
            <a:r>
              <a:rPr lang="en-US" sz="17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hlinkClick r:id="rId4"/>
              </a:rPr>
              <a:t>/</a:t>
            </a:r>
            <a:endParaRPr lang="en-US" sz="18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n-US" sz="1800" dirty="0" err="1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gui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linux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pPr marL="0" indent="0" defTabSz="609585">
              <a:buNone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[1]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gitk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(default)</a:t>
            </a:r>
          </a:p>
          <a:p>
            <a:pPr marL="0" indent="0" defTabSz="609585">
              <a:buNone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[2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]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hlinkClick r:id="rId5"/>
              </a:rPr>
              <a:t>https://www.gitkraken.com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hlinkClick r:id="rId5"/>
              </a:rPr>
              <a:t>/</a:t>
            </a:r>
            <a:endParaRPr lang="en-US" sz="1600" dirty="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[3]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hlinkClick r:id="rId6"/>
              </a:rPr>
              <a:t>https://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hlinkClick r:id="rId6"/>
              </a:rPr>
              <a:t>www.open.collab.net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for </a:t>
            </a:r>
            <a:r>
              <a:rPr lang="en-US" sz="1600" dirty="0" err="1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giteye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fld id="{C27EE4A4-B591-4881-8EAE-02CC7167C639}" type="slidenum">
              <a:rPr lang="en-US">
                <a:solidFill>
                  <a:schemeClr val="accent2">
                    <a:lumMod val="75000"/>
                  </a:schemeClr>
                </a:solidFill>
              </a:rPr>
              <a:pPr algn="r"/>
              <a:t>15</a:t>
            </a:fld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213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  <a:ln>
            <a:noFill/>
          </a:ln>
        </p:spPr>
        <p:txBody>
          <a:bodyPr>
            <a:normAutofit fontScale="90000"/>
          </a:bodyPr>
          <a:lstStyle/>
          <a:p>
            <a:pPr algn="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GIT - commands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164662"/>
            <a:ext cx="10515600" cy="5191688"/>
          </a:xfrm>
        </p:spPr>
        <p:txBody>
          <a:bodyPr>
            <a:normAutofit fontScale="92500" lnSpcReduction="20000"/>
          </a:bodyPr>
          <a:lstStyle/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Push new patch set for review</a:t>
            </a: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$ echo "patch 1" &gt; test.txt</a:t>
            </a: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$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add test.txt</a:t>
            </a: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$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commit -m "my test commit"</a:t>
            </a: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$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push origin </a:t>
            </a:r>
            <a:r>
              <a:rPr lang="en-US" sz="180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HEAD:refs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/for/master</a:t>
            </a:r>
            <a:endParaRPr lang="en-US" sz="18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remote: New Changes:</a:t>
            </a: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remote:  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hlinkClick r:id="rId2"/>
              </a:rPr>
              <a:t>http://10.88.14.210:8080/#/c/20pf/cosmos/jvckenwood/utilities/dbg_daemon_starter/+/</a:t>
            </a: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hlinkClick r:id="rId2"/>
              </a:rPr>
              <a:t>xxxxxxxxxxxxxx</a:t>
            </a:r>
            <a:endParaRPr lang="en-US" sz="1800" dirty="0" smtClean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800" dirty="0" smtClean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Amend previous review message</a:t>
            </a: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$ echo "patch 2" &gt; test.txt</a:t>
            </a: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$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commit --amend -m "my test commit (amend)"</a:t>
            </a: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$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git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push origin </a:t>
            </a:r>
            <a:r>
              <a:rPr lang="en-US" sz="180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HEAD:refs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/changes/</a:t>
            </a:r>
            <a:r>
              <a:rPr lang="en-US" sz="180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xxxxxxxxxxxxxx</a:t>
            </a:r>
            <a:endParaRPr lang="en-US" sz="18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remote: Updated Changes:</a:t>
            </a:r>
          </a:p>
          <a:p>
            <a:pPr marL="0" indent="0" defTabSz="609585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remote:  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hlinkClick r:id="rId2"/>
              </a:rPr>
              <a:t>http://10.88.14.210:8080/#/c/20pf/cosmos/jvckenwood/utilities/dbg_daemon_starter/+/</a:t>
            </a: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hlinkClick r:id="rId2"/>
              </a:rPr>
              <a:t>xxxxxxxxxxxxxx</a:t>
            </a:r>
            <a:endParaRPr lang="en-US" sz="1800" dirty="0" smtClean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609585">
              <a:buNone/>
            </a:pPr>
            <a:endParaRPr lang="en-US" sz="16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070202"/>
            <a:ext cx="105156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fit-haui.edu.vn/pic/News/images/fpt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3873"/>
            <a:ext cx="1741714" cy="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</a:t>
            </a:r>
            <a:fld id="{C27EE4A4-B591-4881-8EAE-02CC7167C639}" type="slidenum">
              <a:rPr lang="en-US">
                <a:solidFill>
                  <a:schemeClr val="accent2">
                    <a:lumMod val="75000"/>
                  </a:schemeClr>
                </a:solidFill>
              </a:rPr>
              <a:pPr algn="r"/>
              <a:t>16</a:t>
            </a:fld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376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by FPT Software 2017 | 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EB7D-BACC-264B-9E30-9834195E995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12178" y="1479850"/>
            <a:ext cx="3851533" cy="3851533"/>
          </a:xfrm>
          <a:prstGeom prst="ellipse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5844" y="2349101"/>
            <a:ext cx="1484200" cy="1317607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4781057" y="3776372"/>
            <a:ext cx="2716812" cy="66605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74320" indent="-27432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20" indent="-27432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267" b="1" dirty="0">
                <a:solidFill>
                  <a:srgbClr val="0072C6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2323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</TotalTime>
  <Words>1247</Words>
  <Application>Microsoft Office PowerPoint</Application>
  <PresentationFormat>Widescreen</PresentationFormat>
  <Paragraphs>218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ＭＳ Ｐゴシック</vt:lpstr>
      <vt:lpstr>Arial</vt:lpstr>
      <vt:lpstr>Calibri</vt:lpstr>
      <vt:lpstr>Calibri Light</vt:lpstr>
      <vt:lpstr>Consolas</vt:lpstr>
      <vt:lpstr>Courier New</vt:lpstr>
      <vt:lpstr>Wingdings</vt:lpstr>
      <vt:lpstr>Office Theme</vt:lpstr>
      <vt:lpstr>PowerPoint Presentation</vt:lpstr>
      <vt:lpstr>OBJECTIVES</vt:lpstr>
      <vt:lpstr>GIT Overview</vt:lpstr>
      <vt:lpstr>GIT Overview</vt:lpstr>
      <vt:lpstr>GIT Overview</vt:lpstr>
      <vt:lpstr>GIT - branches</vt:lpstr>
      <vt:lpstr>GIT - branches</vt:lpstr>
      <vt:lpstr>GIT - branches</vt:lpstr>
      <vt:lpstr>GIT - branches</vt:lpstr>
      <vt:lpstr>GIT - commands</vt:lpstr>
      <vt:lpstr>GIT - commands</vt:lpstr>
      <vt:lpstr>GIT - commands</vt:lpstr>
      <vt:lpstr>GIT - commands</vt:lpstr>
      <vt:lpstr>GIT - commands</vt:lpstr>
      <vt:lpstr>GIT - commands</vt:lpstr>
      <vt:lpstr>GIT - commands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Tran Khac Tuan (FQC.TQA)</dc:creator>
  <cp:lastModifiedBy>Cao Do Nam Tuan (FGA.BU11)</cp:lastModifiedBy>
  <cp:revision>178</cp:revision>
  <dcterms:created xsi:type="dcterms:W3CDTF">2017-09-29T02:07:43Z</dcterms:created>
  <dcterms:modified xsi:type="dcterms:W3CDTF">2018-09-17T10:50:27Z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LPManualFileClassification">
    <vt:lpwstr>{1A067545-A4E2-4FA1-8094-0D7902669705}</vt:lpwstr>
  </property>
  <property fmtid="{D5CDD505-2E9C-101B-9397-08002B2CF9AE}" pid="3" name="DLPManualFileClassificationLastModifiedBy">
    <vt:lpwstr>FSOFT.FPT.VN\TuanTK1</vt:lpwstr>
  </property>
  <property fmtid="{D5CDD505-2E9C-101B-9397-08002B2CF9AE}" pid="4" name="DLPManualFileClassificationLastModificationDate">
    <vt:lpwstr>1506651404</vt:lpwstr>
  </property>
  <property fmtid="{D5CDD505-2E9C-101B-9397-08002B2CF9AE}" pid="5" name="DLPManualFileClassificationVersion">
    <vt:lpwstr>10.0.260.4</vt:lpwstr>
  </property>
</Properties>
</file>